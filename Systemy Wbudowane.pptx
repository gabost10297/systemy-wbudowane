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45C5A-E90F-4270-B197-E9408A779DB6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3B5C2-2455-4A2C-9028-711A7D8CF8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3612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B5C2-2455-4A2C-9028-711A7D8CF8DB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4596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B5C2-2455-4A2C-9028-711A7D8CF8DB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0725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EBE5-0A47-9E50-3601-74929187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D79F9B0-8F51-B910-912B-4F37095C4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FA5DDE2-7EFD-F323-B6B1-18D20D752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0FBDAFE-D653-9F91-2F44-625FFBC41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B5C2-2455-4A2C-9028-711A7D8CF8DB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1585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B5C2-2455-4A2C-9028-711A7D8CF8DB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1402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B5C2-2455-4A2C-9028-711A7D8CF8DB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1355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B5C2-2455-4A2C-9028-711A7D8CF8DB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419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46EA17-A3B0-800F-B6C1-5260ECC29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43905F8-4C27-719B-ED63-703A234D5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EF8FEE7-5F50-7808-A54B-7A79A44C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85EB7C4-35C4-07F4-6128-29E9A80C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AA00A2-595B-367F-1191-E50477F4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061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88B318-B7D7-0570-7D0C-2586C5F7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D96310-ED90-6820-76D3-ED5C3A8B5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A48E740-7BF7-F736-FB26-D15A3401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8BB4FED-C872-5B10-9FC0-519882FC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1FAE96D-040B-4D31-7F23-C05AE165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378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851E41-4EBB-E3DE-6894-B6BC73A3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CF66A56-F455-27B9-312C-C14C8968F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8BD71AB-06C7-D72D-6D78-5EB5AA0C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12C79CE-60E6-FB3C-ADF3-8A23810D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E1D617-D290-42DF-87C5-1DC78E3B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9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7A3CD5-4AB6-690A-1765-B612696A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631FE5-2419-B517-380B-EE4A77A9D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4AB598E-2167-9C95-79C8-AEF0C9EF1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9088355-BC9D-C6B9-B8F8-CDBAC3D4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99BFB1E-75A2-2BD4-4DCF-6130E600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1FDE461-2193-31B4-A3DE-745072EB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949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A6CA3C-DFAD-C83E-5845-3DFB2CEB3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FEE33CF-32CF-F607-FFD5-0B8330A02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C50288C-B831-61F0-4431-0EFBAC8E6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B264F30-5E54-3769-E572-74DAFCB67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F8B9BF7-CC46-D319-F2C2-9BBC4193F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32F7848-22F6-32A6-AD9A-6D4B4C5A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A1E2E8E-4644-F3A2-D84E-967CFE36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620A304-61D1-8937-84BB-BE74AD1B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016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F6BCC1-7841-BD1E-1436-501D201F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7A1C919-0ECF-5669-9F7D-CCE59B4B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F455E70-6395-2351-0D09-4F7C868F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36262A6-EED5-B0CC-D0C0-E47D01E1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699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233C579-1030-B81B-F12F-527ACA55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13FF50C-88C7-D02A-74B1-3F8F9C948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BF12E8C-EE80-ED68-A8EE-31C0B011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40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A34CFF-F087-0D86-499D-ADEAEB74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A28D40-D036-BAAE-F2D3-A9B2ED42B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CA4E5FA-9E35-D929-0B95-EDB63F744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E345F0B-EC15-FF29-54BB-D59A8106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C6B92F8-D38A-AFE8-5AEA-8740C144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BEB94B5-4B37-006E-828D-C5B3623A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53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0836A3-8431-AEF5-09DF-22F083AC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B6A4D61-3B0E-4503-C3FF-D47FF4825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B71C312-38CF-2307-8180-111F7B47F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62E5099-3AAA-238D-1BE2-48BF5ED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FF97FFE-458B-5F0A-8557-86F75A779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8374119-F10E-1CE0-1C14-C5493744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1931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070F46-A031-CD8B-4CCA-6B45EB1E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BD8FF78-7158-1D81-ED11-57CC75476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EBC05EE-0247-A5A2-1BF9-597B0972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108F867-434F-3F1E-F084-2F356396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C114C0E-E884-3A74-CBBC-E55B8BC8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743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A3F9A25-82CE-970A-A733-08C8805D4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DC07B48-781A-D0CB-BE4E-A98EB59BB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8E8D1A3-CB59-5F85-9742-5BFBE217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DA229A4-A087-4275-2757-E53FE5E9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A366EE-17B3-989C-5046-00E49773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741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038DE74-7603-B904-D721-1B017264D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29850AD-B5B6-E8BC-E1D5-BECE815CA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772D64F-F40C-39E1-F869-874CB9A42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F660B-DE05-4048-8DC0-01877AF159DE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24724F7-D4FD-DA22-F973-8A20C7CDB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C76FF27-1D5B-ADFF-F521-7CCD12C77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6B9CE-BD56-4599-BF54-FF0D70A20A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996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electronics-lab.com/tag/asrock/" TargetMode="Externa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hyperlink" Target="https://ocw.tudelft.nl/course-readings/2-4-2-volt-gen-1-phev/?course_id=29398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1.jp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hyperlink" Target="https://cs.wikipedia.org/wiki/AMD_Am386" TargetMode="External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F7297F65-3689-0174-20A9-8B98E50E7B77}"/>
              </a:ext>
            </a:extLst>
          </p:cNvPr>
          <p:cNvSpPr txBox="1"/>
          <p:nvPr/>
        </p:nvSpPr>
        <p:spPr>
          <a:xfrm>
            <a:off x="1794387" y="1061884"/>
            <a:ext cx="8603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Architektury procesorów: Harvard i von Neumann</a:t>
            </a: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BD8A41B7-F39D-3AC4-6826-72313AD79DF4}"/>
              </a:ext>
            </a:extLst>
          </p:cNvPr>
          <p:cNvCxnSpPr/>
          <p:nvPr/>
        </p:nvCxnSpPr>
        <p:spPr>
          <a:xfrm>
            <a:off x="3205316" y="3598606"/>
            <a:ext cx="5545394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3E591BA-EC77-FC43-ADCA-C20086558E03}"/>
              </a:ext>
            </a:extLst>
          </p:cNvPr>
          <p:cNvSpPr txBox="1"/>
          <p:nvPr/>
        </p:nvSpPr>
        <p:spPr>
          <a:xfrm>
            <a:off x="2861187" y="4473678"/>
            <a:ext cx="646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Gabriela Ostrowska</a:t>
            </a:r>
          </a:p>
        </p:txBody>
      </p:sp>
    </p:spTree>
    <p:extLst>
      <p:ext uri="{BB962C8B-B14F-4D97-AF65-F5344CB8AC3E}">
        <p14:creationId xmlns:p14="http://schemas.microsoft.com/office/powerpoint/2010/main" val="336606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1A056-0BAE-E620-8935-D109B231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60BE1940-933B-DD27-96BC-2F8DB9D6AE5B}"/>
              </a:ext>
            </a:extLst>
          </p:cNvPr>
          <p:cNvSpPr txBox="1"/>
          <p:nvPr/>
        </p:nvSpPr>
        <p:spPr>
          <a:xfrm>
            <a:off x="2340077" y="972094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Czym jest architektura procesora?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A10BABE0-E1AE-F9C0-41D4-3F7E695053D6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fika 6" descr="Procesor z wypełnieniem pełnym">
            <a:extLst>
              <a:ext uri="{FF2B5EF4-FFF2-40B4-BE49-F238E27FC236}">
                <a16:creationId xmlns:a16="http://schemas.microsoft.com/office/drawing/2014/main" id="{C8D8827F-29BA-195A-ADC0-BEBB7ADC4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365" y="2752438"/>
            <a:ext cx="3679423" cy="3679423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C7AA3FE-5902-ADE9-376E-FEA28F356723}"/>
              </a:ext>
            </a:extLst>
          </p:cNvPr>
          <p:cNvSpPr txBox="1">
            <a:spLocks/>
          </p:cNvSpPr>
          <p:nvPr/>
        </p:nvSpPr>
        <p:spPr>
          <a:xfrm>
            <a:off x="4468763" y="3429000"/>
            <a:ext cx="7723237" cy="196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Sposób komunikacji procesora z pamięcią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Zarządzanie: Instrukcje vs Dane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Bezpośredni wpływ na wydajność</a:t>
            </a:r>
          </a:p>
        </p:txBody>
      </p:sp>
      <p:pic>
        <p:nvPicPr>
          <p:cNvPr id="9" name="Grafika 8" descr="Szef kuchni z wypełnieniem pełnym">
            <a:extLst>
              <a:ext uri="{FF2B5EF4-FFF2-40B4-BE49-F238E27FC236}">
                <a16:creationId xmlns:a16="http://schemas.microsoft.com/office/drawing/2014/main" id="{8E467798-924D-D946-5D90-3DA8842F8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4372" y="4134949"/>
            <a:ext cx="1094207" cy="1094207"/>
          </a:xfrm>
          <a:prstGeom prst="rect">
            <a:avLst/>
          </a:prstGeom>
        </p:spPr>
      </p:pic>
      <p:pic>
        <p:nvPicPr>
          <p:cNvPr id="11" name="Grafika 10" descr="Magazyn z wypełnieniem pełnym">
            <a:extLst>
              <a:ext uri="{FF2B5EF4-FFF2-40B4-BE49-F238E27FC236}">
                <a16:creationId xmlns:a16="http://schemas.microsoft.com/office/drawing/2014/main" id="{D6FB0CFA-D5B9-288E-1189-074FFEB8DB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3571" y="1772264"/>
            <a:ext cx="914400" cy="914400"/>
          </a:xfrm>
          <a:prstGeom prst="rect">
            <a:avLst/>
          </a:prstGeom>
        </p:spPr>
      </p:pic>
      <p:pic>
        <p:nvPicPr>
          <p:cNvPr id="13" name="Grafika 12" descr="Bao z wypełnieniem pełnym">
            <a:extLst>
              <a:ext uri="{FF2B5EF4-FFF2-40B4-BE49-F238E27FC236}">
                <a16:creationId xmlns:a16="http://schemas.microsoft.com/office/drawing/2014/main" id="{17D57D6D-6A68-80D9-877E-A19774B6B2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64030" y="17722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1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F6D28-1466-6771-9474-8FCCA7792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FA0CA00-FB82-1ACF-55D7-4BB66ECBCB2A}"/>
              </a:ext>
            </a:extLst>
          </p:cNvPr>
          <p:cNvSpPr txBox="1"/>
          <p:nvPr/>
        </p:nvSpPr>
        <p:spPr>
          <a:xfrm>
            <a:off x="2340077" y="972094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Architektura von Neumanna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593D5588-9F0C-9C7F-13AA-458B6988C835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rostokąt 3">
            <a:extLst>
              <a:ext uri="{FF2B5EF4-FFF2-40B4-BE49-F238E27FC236}">
                <a16:creationId xmlns:a16="http://schemas.microsoft.com/office/drawing/2014/main" id="{8E0ADFB1-A25B-DCC2-147C-CD66DBD74178}"/>
              </a:ext>
            </a:extLst>
          </p:cNvPr>
          <p:cNvSpPr/>
          <p:nvPr/>
        </p:nvSpPr>
        <p:spPr>
          <a:xfrm>
            <a:off x="825911" y="2775158"/>
            <a:ext cx="4001729" cy="3706753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CPU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06AC661D-5A59-DEE7-04D7-733BF5103E5D}"/>
              </a:ext>
            </a:extLst>
          </p:cNvPr>
          <p:cNvSpPr/>
          <p:nvPr/>
        </p:nvSpPr>
        <p:spPr>
          <a:xfrm>
            <a:off x="7364361" y="2775159"/>
            <a:ext cx="4001729" cy="3706753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Pamięć współdzielona</a:t>
            </a:r>
          </a:p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(Program + Dane)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A3679FEC-6D87-5A69-4DF8-D95116F2616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827640" y="4628535"/>
            <a:ext cx="2536721" cy="1"/>
          </a:xfrm>
          <a:prstGeom prst="straightConnector1">
            <a:avLst/>
          </a:prstGeom>
          <a:ln w="1016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E2E988E-4A6D-6C03-60F6-0D91B5506F2D}"/>
              </a:ext>
            </a:extLst>
          </p:cNvPr>
          <p:cNvSpPr txBox="1"/>
          <p:nvPr/>
        </p:nvSpPr>
        <p:spPr>
          <a:xfrm>
            <a:off x="4827638" y="3728898"/>
            <a:ext cx="25367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Jedna wspólna magistrala</a:t>
            </a:r>
          </a:p>
        </p:txBody>
      </p:sp>
      <p:pic>
        <p:nvPicPr>
          <p:cNvPr id="7" name="Grafika 6" descr="Szef kuchni z wypełnieniem pełnym">
            <a:extLst>
              <a:ext uri="{FF2B5EF4-FFF2-40B4-BE49-F238E27FC236}">
                <a16:creationId xmlns:a16="http://schemas.microsoft.com/office/drawing/2014/main" id="{DEC92915-EBDA-F76E-992B-0E946CCEC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4361" y="5148630"/>
            <a:ext cx="1273277" cy="1273277"/>
          </a:xfrm>
          <a:prstGeom prst="rect">
            <a:avLst/>
          </a:prstGeom>
        </p:spPr>
      </p:pic>
      <p:pic>
        <p:nvPicPr>
          <p:cNvPr id="11" name="Grafika 10" descr="Bao z wypełnieniem pełnym">
            <a:extLst>
              <a:ext uri="{FF2B5EF4-FFF2-40B4-BE49-F238E27FC236}">
                <a16:creationId xmlns:a16="http://schemas.microsoft.com/office/drawing/2014/main" id="{AA1DF467-3653-1F83-DCF3-941631BABC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697" y="5398814"/>
            <a:ext cx="1195392" cy="1195392"/>
          </a:xfrm>
          <a:prstGeom prst="rect">
            <a:avLst/>
          </a:prstGeom>
        </p:spPr>
      </p:pic>
      <p:pic>
        <p:nvPicPr>
          <p:cNvPr id="13" name="Grafika 12" descr="Dokument z wypełnieniem pełnym">
            <a:extLst>
              <a:ext uri="{FF2B5EF4-FFF2-40B4-BE49-F238E27FC236}">
                <a16:creationId xmlns:a16="http://schemas.microsoft.com/office/drawing/2014/main" id="{DD5B9433-E337-71FC-7178-06EAFC4392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4359" y="5226515"/>
            <a:ext cx="1195392" cy="119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12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Grafika związana z transportem i logistyką">
            <a:extLst>
              <a:ext uri="{FF2B5EF4-FFF2-40B4-BE49-F238E27FC236}">
                <a16:creationId xmlns:a16="http://schemas.microsoft.com/office/drawing/2014/main" id="{5E9AE3FF-CDBF-19F5-B638-1B1D89DB7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6852" y="-636106"/>
            <a:ext cx="13676671" cy="7671101"/>
          </a:xfrm>
          <a:prstGeom prst="rect">
            <a:avLst/>
          </a:prstGeom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DD0424EE-BAA4-9FC7-2E94-23AC946778EE}"/>
              </a:ext>
            </a:extLst>
          </p:cNvPr>
          <p:cNvSpPr/>
          <p:nvPr/>
        </p:nvSpPr>
        <p:spPr>
          <a:xfrm>
            <a:off x="-1401098" y="-1602658"/>
            <a:ext cx="13765161" cy="8637653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50A5A9B-0E2A-5D79-C315-BEC8A2B3CF00}"/>
              </a:ext>
            </a:extLst>
          </p:cNvPr>
          <p:cNvSpPr txBox="1"/>
          <p:nvPr/>
        </p:nvSpPr>
        <p:spPr>
          <a:xfrm>
            <a:off x="1979971" y="1874729"/>
            <a:ext cx="82320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Wąskie gardło von Neumanna</a:t>
            </a:r>
          </a:p>
          <a:p>
            <a:pPr algn="ctr"/>
            <a:endParaRPr lang="pl-PL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Procesor jest znacznie szybszy niż pamięć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Jedna magistrala = procesor musi czekać w „korku” na pamięć</a:t>
            </a:r>
          </a:p>
          <a:p>
            <a:pPr algn="ctr"/>
            <a:endParaRPr lang="pl-PL" sz="4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l-PL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40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57DF5-5631-6E65-97EE-ECF9B724D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4E172245-4BDE-0CA7-A840-4D1D720343AD}"/>
              </a:ext>
            </a:extLst>
          </p:cNvPr>
          <p:cNvSpPr txBox="1"/>
          <p:nvPr/>
        </p:nvSpPr>
        <p:spPr>
          <a:xfrm>
            <a:off x="2340077" y="972094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Architektura Harvard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007523C8-04B2-BBBF-EECA-E811B816D557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rostokąt 3">
            <a:extLst>
              <a:ext uri="{FF2B5EF4-FFF2-40B4-BE49-F238E27FC236}">
                <a16:creationId xmlns:a16="http://schemas.microsoft.com/office/drawing/2014/main" id="{8DF4803B-1D37-01EB-17FF-F02F1C540C1F}"/>
              </a:ext>
            </a:extLst>
          </p:cNvPr>
          <p:cNvSpPr/>
          <p:nvPr/>
        </p:nvSpPr>
        <p:spPr>
          <a:xfrm>
            <a:off x="4861733" y="3297874"/>
            <a:ext cx="2468532" cy="2286571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CPU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2BE84B00-0266-D38F-8900-54A7BD9AD13F}"/>
              </a:ext>
            </a:extLst>
          </p:cNvPr>
          <p:cNvSpPr/>
          <p:nvPr/>
        </p:nvSpPr>
        <p:spPr>
          <a:xfrm>
            <a:off x="9059094" y="3293806"/>
            <a:ext cx="2468532" cy="228657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Pamięć Danych</a:t>
            </a:r>
          </a:p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(RAM)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956357AE-4E58-3998-794A-75AF172C08E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330265" y="4437092"/>
            <a:ext cx="1728829" cy="4068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 22">
            <a:extLst>
              <a:ext uri="{FF2B5EF4-FFF2-40B4-BE49-F238E27FC236}">
                <a16:creationId xmlns:a16="http://schemas.microsoft.com/office/drawing/2014/main" id="{5AC2386C-129F-D102-58C6-8547943250AB}"/>
              </a:ext>
            </a:extLst>
          </p:cNvPr>
          <p:cNvSpPr/>
          <p:nvPr/>
        </p:nvSpPr>
        <p:spPr>
          <a:xfrm>
            <a:off x="664374" y="3293807"/>
            <a:ext cx="2468532" cy="228657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Pamięć Programu</a:t>
            </a:r>
          </a:p>
          <a:p>
            <a:pPr algn="ctr"/>
            <a:r>
              <a:rPr lang="pl-PL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(ROM)</a:t>
            </a: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3C67E077-B346-C3B0-F122-A7B15FFE6CFE}"/>
              </a:ext>
            </a:extLst>
          </p:cNvPr>
          <p:cNvCxnSpPr>
            <a:cxnSpLocks/>
            <a:stCxn id="23" idx="3"/>
            <a:endCxn id="4" idx="1"/>
          </p:cNvCxnSpPr>
          <p:nvPr/>
        </p:nvCxnSpPr>
        <p:spPr>
          <a:xfrm>
            <a:off x="3132906" y="4437093"/>
            <a:ext cx="1728827" cy="4067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BB75F10B-FDC3-C5D0-979C-8B16335EDACA}"/>
              </a:ext>
            </a:extLst>
          </p:cNvPr>
          <p:cNvSpPr txBox="1"/>
          <p:nvPr/>
        </p:nvSpPr>
        <p:spPr>
          <a:xfrm>
            <a:off x="3234036" y="3699648"/>
            <a:ext cx="152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Magistrala Instrukcji</a:t>
            </a:r>
          </a:p>
        </p:txBody>
      </p: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90A7DE04-5BD8-FF7D-E037-2E0CE707C9B8}"/>
              </a:ext>
            </a:extLst>
          </p:cNvPr>
          <p:cNvSpPr txBox="1"/>
          <p:nvPr/>
        </p:nvSpPr>
        <p:spPr>
          <a:xfrm>
            <a:off x="7431396" y="3699648"/>
            <a:ext cx="152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Magistrala Danych</a:t>
            </a:r>
          </a:p>
        </p:txBody>
      </p:sp>
    </p:spTree>
    <p:extLst>
      <p:ext uri="{BB962C8B-B14F-4D97-AF65-F5344CB8AC3E}">
        <p14:creationId xmlns:p14="http://schemas.microsoft.com/office/powerpoint/2010/main" val="117372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F4BD6-C92A-95C3-BC76-92E5EA45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6B2F801-2825-F8D6-C808-4D9DF7750B8D}"/>
              </a:ext>
            </a:extLst>
          </p:cNvPr>
          <p:cNvSpPr txBox="1"/>
          <p:nvPr/>
        </p:nvSpPr>
        <p:spPr>
          <a:xfrm>
            <a:off x="2340077" y="972094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Zestawienie </a:t>
            </a:r>
            <a:r>
              <a:rPr lang="pl-PL" sz="36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architektur</a:t>
            </a:r>
            <a:endParaRPr lang="pl-PL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84E0B4BA-A836-C35F-40B1-A60B6E72AA08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A30CE99F-DEB5-D310-2EB3-8ED11AD92597}"/>
              </a:ext>
            </a:extLst>
          </p:cNvPr>
          <p:cNvCxnSpPr>
            <a:cxnSpLocks/>
          </p:cNvCxnSpPr>
          <p:nvPr/>
        </p:nvCxnSpPr>
        <p:spPr>
          <a:xfrm>
            <a:off x="6117019" y="2427890"/>
            <a:ext cx="0" cy="425669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4F1CF7F-4D4F-2081-05FA-742E1F04C0D6}"/>
              </a:ext>
            </a:extLst>
          </p:cNvPr>
          <p:cNvSpPr txBox="1"/>
          <p:nvPr/>
        </p:nvSpPr>
        <p:spPr>
          <a:xfrm>
            <a:off x="956867" y="1952465"/>
            <a:ext cx="27664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von Neumann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61EAE8C-EBF3-AA5C-939E-29B1A5FEC9F3}"/>
              </a:ext>
            </a:extLst>
          </p:cNvPr>
          <p:cNvSpPr txBox="1"/>
          <p:nvPr/>
        </p:nvSpPr>
        <p:spPr>
          <a:xfrm>
            <a:off x="8899975" y="1952465"/>
            <a:ext cx="19038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Harvard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7DA8CA4-1566-A646-1457-5EC1C7A1A224}"/>
              </a:ext>
            </a:extLst>
          </p:cNvPr>
          <p:cNvSpPr txBox="1"/>
          <p:nvPr/>
        </p:nvSpPr>
        <p:spPr>
          <a:xfrm>
            <a:off x="956867" y="2840503"/>
            <a:ext cx="4939406" cy="256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2800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Jedna magistrala</a:t>
            </a:r>
          </a:p>
          <a:p>
            <a:pPr>
              <a:lnSpc>
                <a:spcPct val="200000"/>
              </a:lnSpc>
            </a:pPr>
            <a:r>
              <a:rPr lang="pl-PL" sz="2800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Prostsza budowa (tańsza)</a:t>
            </a:r>
          </a:p>
          <a:p>
            <a:pPr>
              <a:lnSpc>
                <a:spcPct val="200000"/>
              </a:lnSpc>
            </a:pPr>
            <a:r>
              <a:rPr lang="pl-PL" sz="2800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Wąskie gardło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1026838-6B4B-F452-D171-01C5425923A4}"/>
              </a:ext>
            </a:extLst>
          </p:cNvPr>
          <p:cNvSpPr txBox="1"/>
          <p:nvPr/>
        </p:nvSpPr>
        <p:spPr>
          <a:xfrm>
            <a:off x="6295727" y="2878292"/>
            <a:ext cx="4939406" cy="256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pl-PL" sz="2800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Dwie magistrale</a:t>
            </a:r>
          </a:p>
          <a:p>
            <a:pPr algn="r">
              <a:lnSpc>
                <a:spcPct val="200000"/>
              </a:lnSpc>
            </a:pPr>
            <a:r>
              <a:rPr lang="pl-PL" sz="2800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Złożona budowa</a:t>
            </a:r>
          </a:p>
          <a:p>
            <a:pPr algn="r">
              <a:lnSpc>
                <a:spcPct val="200000"/>
              </a:lnSpc>
            </a:pPr>
            <a:r>
              <a:rPr lang="pl-PL" sz="2800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Szybsze wykonywanie</a:t>
            </a:r>
          </a:p>
        </p:txBody>
      </p:sp>
      <p:pic>
        <p:nvPicPr>
          <p:cNvPr id="14" name="Grafika 13" descr="Strzałka w prawo z wypełnieniem pełnym">
            <a:extLst>
              <a:ext uri="{FF2B5EF4-FFF2-40B4-BE49-F238E27FC236}">
                <a16:creationId xmlns:a16="http://schemas.microsoft.com/office/drawing/2014/main" id="{B143D72B-CBE0-61C8-5EC9-132CBDA71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104" y="3179805"/>
            <a:ext cx="498390" cy="498390"/>
          </a:xfrm>
          <a:prstGeom prst="rect">
            <a:avLst/>
          </a:prstGeom>
        </p:spPr>
      </p:pic>
      <p:pic>
        <p:nvPicPr>
          <p:cNvPr id="16" name="Grafika 15" descr="Świnka-skarbonka z wypełnieniem pełnym">
            <a:extLst>
              <a:ext uri="{FF2B5EF4-FFF2-40B4-BE49-F238E27FC236}">
                <a16:creationId xmlns:a16="http://schemas.microsoft.com/office/drawing/2014/main" id="{79610246-DB0F-DA79-B35E-722CD46AAA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104" y="3989375"/>
            <a:ext cx="498390" cy="498390"/>
          </a:xfrm>
          <a:prstGeom prst="rect">
            <a:avLst/>
          </a:prstGeom>
        </p:spPr>
      </p:pic>
      <p:pic>
        <p:nvPicPr>
          <p:cNvPr id="18" name="Grafika 17" descr="Klepsydra z przesypanym piaskiem z wypełnieniem pełnym">
            <a:extLst>
              <a:ext uri="{FF2B5EF4-FFF2-40B4-BE49-F238E27FC236}">
                <a16:creationId xmlns:a16="http://schemas.microsoft.com/office/drawing/2014/main" id="{F760C6ED-85BB-17A3-AACC-1ACDA52671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8104" y="4864985"/>
            <a:ext cx="498390" cy="498390"/>
          </a:xfrm>
          <a:prstGeom prst="rect">
            <a:avLst/>
          </a:prstGeom>
        </p:spPr>
      </p:pic>
      <p:pic>
        <p:nvPicPr>
          <p:cNvPr id="20" name="Grafika 19" descr="Losowo z wypełnieniem pełnym">
            <a:extLst>
              <a:ext uri="{FF2B5EF4-FFF2-40B4-BE49-F238E27FC236}">
                <a16:creationId xmlns:a16="http://schemas.microsoft.com/office/drawing/2014/main" id="{F5160D89-6117-8E4D-0807-9B54197DF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45506" y="3179805"/>
            <a:ext cx="498390" cy="498390"/>
          </a:xfrm>
          <a:prstGeom prst="rect">
            <a:avLst/>
          </a:prstGeom>
        </p:spPr>
      </p:pic>
      <p:pic>
        <p:nvPicPr>
          <p:cNvPr id="22" name="Grafika 21" descr="Labirynt z wypełnieniem pełnym">
            <a:extLst>
              <a:ext uri="{FF2B5EF4-FFF2-40B4-BE49-F238E27FC236}">
                <a16:creationId xmlns:a16="http://schemas.microsoft.com/office/drawing/2014/main" id="{C2E9752F-4B3C-5C9F-0FF7-417C3AA444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45506" y="4060685"/>
            <a:ext cx="498390" cy="498390"/>
          </a:xfrm>
          <a:prstGeom prst="rect">
            <a:avLst/>
          </a:prstGeom>
        </p:spPr>
      </p:pic>
      <p:pic>
        <p:nvPicPr>
          <p:cNvPr id="25" name="Grafika 24" descr="Rakieta z wypełnieniem pełnym">
            <a:extLst>
              <a:ext uri="{FF2B5EF4-FFF2-40B4-BE49-F238E27FC236}">
                <a16:creationId xmlns:a16="http://schemas.microsoft.com/office/drawing/2014/main" id="{08579E68-3640-DD16-6795-129909C5D7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45506" y="4941565"/>
            <a:ext cx="498390" cy="49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4007D-9B4D-FEA8-1273-2F9211D0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BE0DEF4A-9F76-FE0B-8B13-2508FC65AC17}"/>
              </a:ext>
            </a:extLst>
          </p:cNvPr>
          <p:cNvSpPr txBox="1"/>
          <p:nvPr/>
        </p:nvSpPr>
        <p:spPr>
          <a:xfrm>
            <a:off x="2340077" y="972094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Zestawienie </a:t>
            </a:r>
            <a:r>
              <a:rPr lang="pl-PL" sz="36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architektur</a:t>
            </a:r>
            <a:endParaRPr lang="pl-PL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5178E0D9-B6F9-F75C-E30A-7279398EA9BF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B991898B-C673-F430-4AE8-5C45802FB221}"/>
              </a:ext>
            </a:extLst>
          </p:cNvPr>
          <p:cNvCxnSpPr>
            <a:cxnSpLocks/>
          </p:cNvCxnSpPr>
          <p:nvPr/>
        </p:nvCxnSpPr>
        <p:spPr>
          <a:xfrm>
            <a:off x="6117019" y="2427890"/>
            <a:ext cx="0" cy="425669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9886BDC-308F-BDC3-A8DA-2509D32BCA0D}"/>
              </a:ext>
            </a:extLst>
          </p:cNvPr>
          <p:cNvSpPr txBox="1"/>
          <p:nvPr/>
        </p:nvSpPr>
        <p:spPr>
          <a:xfrm>
            <a:off x="956867" y="1952465"/>
            <a:ext cx="27664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von Neumann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B6A13EA-2B6F-76D0-D793-C942B9CE3FF7}"/>
              </a:ext>
            </a:extLst>
          </p:cNvPr>
          <p:cNvSpPr txBox="1"/>
          <p:nvPr/>
        </p:nvSpPr>
        <p:spPr>
          <a:xfrm>
            <a:off x="8899975" y="1952465"/>
            <a:ext cx="19038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Harvard</a:t>
            </a: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38752AD5-1977-43E6-E5DB-8EE2CDB2B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049" y="2840503"/>
            <a:ext cx="4805283" cy="3656442"/>
          </a:xfrm>
          <a:prstGeom prst="rect">
            <a:avLst/>
          </a:prstGeom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23113CA1-C9C7-0EC5-ED41-5068E2601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2702261">
            <a:off x="136915" y="2431447"/>
            <a:ext cx="5369465" cy="447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06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E1D02-CBB3-B64C-E200-918F2402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D3BFAD9-E092-E4E3-0835-E3772AA20A9C}"/>
              </a:ext>
            </a:extLst>
          </p:cNvPr>
          <p:cNvSpPr txBox="1"/>
          <p:nvPr/>
        </p:nvSpPr>
        <p:spPr>
          <a:xfrm>
            <a:off x="2340077" y="972094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Gdzie znajdziemy je w praktyce?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379FFFCF-64FE-DBDD-3895-D9B967A3B9BB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Obraz 24">
            <a:extLst>
              <a:ext uri="{FF2B5EF4-FFF2-40B4-BE49-F238E27FC236}">
                <a16:creationId xmlns:a16="http://schemas.microsoft.com/office/drawing/2014/main" id="{9FE43805-9315-D6D3-4CF9-D332AF5C3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39380" y="2672541"/>
            <a:ext cx="3913240" cy="3017140"/>
          </a:xfrm>
          <a:prstGeom prst="rect">
            <a:avLst/>
          </a:prstGeom>
        </p:spPr>
      </p:pic>
      <p:sp>
        <p:nvSpPr>
          <p:cNvPr id="27" name="pole tekstowe 26">
            <a:extLst>
              <a:ext uri="{FF2B5EF4-FFF2-40B4-BE49-F238E27FC236}">
                <a16:creationId xmlns:a16="http://schemas.microsoft.com/office/drawing/2014/main" id="{5218DB9D-33B8-F61B-C3DA-18A00E421791}"/>
              </a:ext>
            </a:extLst>
          </p:cNvPr>
          <p:cNvSpPr txBox="1"/>
          <p:nvPr/>
        </p:nvSpPr>
        <p:spPr>
          <a:xfrm>
            <a:off x="688258" y="5407742"/>
            <a:ext cx="287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Konsola do gier</a:t>
            </a:r>
          </a:p>
          <a:p>
            <a:pPr algn="ctr"/>
            <a:r>
              <a:rPr lang="pl-PL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von Neumann</a:t>
            </a: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878E9ED7-4971-89B1-8261-F9C5C37F1770}"/>
              </a:ext>
            </a:extLst>
          </p:cNvPr>
          <p:cNvSpPr txBox="1"/>
          <p:nvPr/>
        </p:nvSpPr>
        <p:spPr>
          <a:xfrm>
            <a:off x="2939845" y="5372451"/>
            <a:ext cx="6312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Motoryzacja</a:t>
            </a:r>
          </a:p>
          <a:p>
            <a:pPr algn="ctr"/>
            <a:r>
              <a:rPr lang="pl-PL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Harvard</a:t>
            </a:r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54ED0A04-D37E-4E3A-662E-C19766833437}"/>
              </a:ext>
            </a:extLst>
          </p:cNvPr>
          <p:cNvSpPr txBox="1"/>
          <p:nvPr/>
        </p:nvSpPr>
        <p:spPr>
          <a:xfrm>
            <a:off x="7010400" y="5372451"/>
            <a:ext cx="6312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b="1" dirty="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Smartfon</a:t>
            </a:r>
          </a:p>
          <a:p>
            <a:pPr algn="ctr"/>
            <a:r>
              <a:rPr lang="pl-PL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Zmodyfikowana Harvard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6D47E46-C2EA-3EE5-392D-5FE2C5077E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83" y="2390212"/>
            <a:ext cx="3264568" cy="326456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254B524-743A-29BB-4D4C-2089F6EFAA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946" y="2229464"/>
            <a:ext cx="3264569" cy="32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9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3F20E-9950-1150-0A5B-683BA0C2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D202CE99-70E4-4160-E9A0-CC85982DC47B}"/>
              </a:ext>
            </a:extLst>
          </p:cNvPr>
          <p:cNvSpPr txBox="1"/>
          <p:nvPr/>
        </p:nvSpPr>
        <p:spPr>
          <a:xfrm>
            <a:off x="1868129" y="972094"/>
            <a:ext cx="8455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Zmodyfikowana Architektura Harvard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4AC18415-DD9C-DDB2-16B0-C5E883E5A484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Obraz 11">
            <a:extLst>
              <a:ext uri="{FF2B5EF4-FFF2-40B4-BE49-F238E27FC236}">
                <a16:creationId xmlns:a16="http://schemas.microsoft.com/office/drawing/2014/main" id="{1157CA89-5671-2694-8F28-9B3E3B04B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1144" y="3609391"/>
            <a:ext cx="2826520" cy="2286912"/>
          </a:xfrm>
          <a:prstGeom prst="rect">
            <a:avLst/>
          </a:prstGeom>
          <a:effectLst>
            <a:softEdge rad="114300"/>
          </a:effectLst>
        </p:spPr>
      </p:pic>
      <p:sp>
        <p:nvSpPr>
          <p:cNvPr id="14" name="Owal 13">
            <a:extLst>
              <a:ext uri="{FF2B5EF4-FFF2-40B4-BE49-F238E27FC236}">
                <a16:creationId xmlns:a16="http://schemas.microsoft.com/office/drawing/2014/main" id="{C843DAD0-648C-D986-B90D-1EAA5F32D9B8}"/>
              </a:ext>
            </a:extLst>
          </p:cNvPr>
          <p:cNvSpPr/>
          <p:nvPr/>
        </p:nvSpPr>
        <p:spPr>
          <a:xfrm>
            <a:off x="4378386" y="2936321"/>
            <a:ext cx="3435228" cy="3435228"/>
          </a:xfrm>
          <a:prstGeom prst="ellipse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1C9B6B8A-7546-5DBE-9C6F-203C88548CF8}"/>
              </a:ext>
            </a:extLst>
          </p:cNvPr>
          <p:cNvCxnSpPr>
            <a:cxnSpLocks/>
          </p:cNvCxnSpPr>
          <p:nvPr/>
        </p:nvCxnSpPr>
        <p:spPr>
          <a:xfrm flipH="1">
            <a:off x="2217480" y="3026377"/>
            <a:ext cx="3324905" cy="90128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56CDE20C-AD99-A47C-6003-C926DBCF351E}"/>
              </a:ext>
            </a:extLst>
          </p:cNvPr>
          <p:cNvCxnSpPr>
            <a:cxnSpLocks/>
          </p:cNvCxnSpPr>
          <p:nvPr/>
        </p:nvCxnSpPr>
        <p:spPr>
          <a:xfrm flipH="1" flipV="1">
            <a:off x="2448910" y="5407122"/>
            <a:ext cx="3342736" cy="94514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Grafika 45" descr="Mózg z wypełnieniem pełnym">
            <a:extLst>
              <a:ext uri="{FF2B5EF4-FFF2-40B4-BE49-F238E27FC236}">
                <a16:creationId xmlns:a16="http://schemas.microsoft.com/office/drawing/2014/main" id="{831D1D20-F950-E593-518A-CC0F190872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9616" y="4040315"/>
            <a:ext cx="914400" cy="914400"/>
          </a:xfrm>
          <a:prstGeom prst="rect">
            <a:avLst/>
          </a:prstGeom>
        </p:spPr>
      </p:pic>
      <p:pic>
        <p:nvPicPr>
          <p:cNvPr id="48" name="Grafika 47" descr="Dokument z wypełnieniem pełnym">
            <a:extLst>
              <a:ext uri="{FF2B5EF4-FFF2-40B4-BE49-F238E27FC236}">
                <a16:creationId xmlns:a16="http://schemas.microsoft.com/office/drawing/2014/main" id="{A697565D-3787-B400-DBD7-323D72C421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6208" y="3382591"/>
            <a:ext cx="914400" cy="914400"/>
          </a:xfrm>
          <a:prstGeom prst="rect">
            <a:avLst/>
          </a:prstGeom>
        </p:spPr>
      </p:pic>
      <p:pic>
        <p:nvPicPr>
          <p:cNvPr id="50" name="Grafika 49" descr="Baza danych z wypełnieniem pełnym">
            <a:extLst>
              <a:ext uri="{FF2B5EF4-FFF2-40B4-BE49-F238E27FC236}">
                <a16:creationId xmlns:a16="http://schemas.microsoft.com/office/drawing/2014/main" id="{D2AD7017-F84A-DD05-A726-40C1C5852A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5185" y="4810355"/>
            <a:ext cx="914400" cy="914400"/>
          </a:xfrm>
          <a:prstGeom prst="rect">
            <a:avLst/>
          </a:prstGeom>
        </p:spPr>
      </p:pic>
      <p:cxnSp>
        <p:nvCxnSpPr>
          <p:cNvPr id="52" name="Łącznik prosty ze strzałką 51">
            <a:extLst>
              <a:ext uri="{FF2B5EF4-FFF2-40B4-BE49-F238E27FC236}">
                <a16:creationId xmlns:a16="http://schemas.microsoft.com/office/drawing/2014/main" id="{1A46C1B2-5D5E-D949-6D9B-88A0C3F29E2D}"/>
              </a:ext>
            </a:extLst>
          </p:cNvPr>
          <p:cNvCxnSpPr>
            <a:cxnSpLocks/>
            <a:stCxn id="46" idx="1"/>
            <a:endCxn id="48" idx="3"/>
          </p:cNvCxnSpPr>
          <p:nvPr/>
        </p:nvCxnSpPr>
        <p:spPr>
          <a:xfrm flipH="1" flipV="1">
            <a:off x="5800608" y="3839791"/>
            <a:ext cx="849008" cy="657724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Łącznik prosty ze strzałką 54">
            <a:extLst>
              <a:ext uri="{FF2B5EF4-FFF2-40B4-BE49-F238E27FC236}">
                <a16:creationId xmlns:a16="http://schemas.microsoft.com/office/drawing/2014/main" id="{B30C8B0E-2754-FDDD-16EB-0168FC5182FE}"/>
              </a:ext>
            </a:extLst>
          </p:cNvPr>
          <p:cNvCxnSpPr>
            <a:cxnSpLocks/>
            <a:stCxn id="46" idx="1"/>
            <a:endCxn id="50" idx="3"/>
          </p:cNvCxnSpPr>
          <p:nvPr/>
        </p:nvCxnSpPr>
        <p:spPr>
          <a:xfrm flipH="1">
            <a:off x="5999585" y="4497515"/>
            <a:ext cx="650031" cy="77004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ole tekstowe 58">
            <a:extLst>
              <a:ext uri="{FF2B5EF4-FFF2-40B4-BE49-F238E27FC236}">
                <a16:creationId xmlns:a16="http://schemas.microsoft.com/office/drawing/2014/main" id="{8E8A83FB-44FF-2840-85D3-90B69D0660BA}"/>
              </a:ext>
            </a:extLst>
          </p:cNvPr>
          <p:cNvSpPr txBox="1"/>
          <p:nvPr/>
        </p:nvSpPr>
        <p:spPr>
          <a:xfrm>
            <a:off x="6649616" y="492646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Rdzeń</a:t>
            </a:r>
          </a:p>
        </p:txBody>
      </p:sp>
      <p:sp>
        <p:nvSpPr>
          <p:cNvPr id="60" name="pole tekstowe 59">
            <a:extLst>
              <a:ext uri="{FF2B5EF4-FFF2-40B4-BE49-F238E27FC236}">
                <a16:creationId xmlns:a16="http://schemas.microsoft.com/office/drawing/2014/main" id="{724063C0-64E0-962E-5B25-3D5573169DF1}"/>
              </a:ext>
            </a:extLst>
          </p:cNvPr>
          <p:cNvSpPr txBox="1"/>
          <p:nvPr/>
        </p:nvSpPr>
        <p:spPr>
          <a:xfrm>
            <a:off x="4972664" y="5711637"/>
            <a:ext cx="113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L1 Dane</a:t>
            </a:r>
          </a:p>
        </p:txBody>
      </p:sp>
      <p:sp>
        <p:nvSpPr>
          <p:cNvPr id="61" name="pole tekstowe 60">
            <a:extLst>
              <a:ext uri="{FF2B5EF4-FFF2-40B4-BE49-F238E27FC236}">
                <a16:creationId xmlns:a16="http://schemas.microsoft.com/office/drawing/2014/main" id="{43291F3F-E6CE-7918-0761-BB9328B6C7DC}"/>
              </a:ext>
            </a:extLst>
          </p:cNvPr>
          <p:cNvSpPr txBox="1"/>
          <p:nvPr/>
        </p:nvSpPr>
        <p:spPr>
          <a:xfrm>
            <a:off x="4494475" y="4284603"/>
            <a:ext cx="169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L1 Instrukcje</a:t>
            </a:r>
          </a:p>
        </p:txBody>
      </p:sp>
      <p:pic>
        <p:nvPicPr>
          <p:cNvPr id="70" name="Grafika 69" descr="Baza danych kontur">
            <a:extLst>
              <a:ext uri="{FF2B5EF4-FFF2-40B4-BE49-F238E27FC236}">
                <a16:creationId xmlns:a16="http://schemas.microsoft.com/office/drawing/2014/main" id="{892D846B-AE85-2A38-64C4-EF813B2F0F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7900" y="3151544"/>
            <a:ext cx="2691941" cy="2691941"/>
          </a:xfrm>
          <a:prstGeom prst="rect">
            <a:avLst/>
          </a:prstGeom>
        </p:spPr>
      </p:pic>
      <p:cxnSp>
        <p:nvCxnSpPr>
          <p:cNvPr id="71" name="Łącznik prosty ze strzałką 70">
            <a:extLst>
              <a:ext uri="{FF2B5EF4-FFF2-40B4-BE49-F238E27FC236}">
                <a16:creationId xmlns:a16="http://schemas.microsoft.com/office/drawing/2014/main" id="{8EB8284F-ECBD-2017-AAC5-07BECFD5EC52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7564016" y="4497514"/>
            <a:ext cx="1870797" cy="1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pole tekstowe 77">
            <a:extLst>
              <a:ext uri="{FF2B5EF4-FFF2-40B4-BE49-F238E27FC236}">
                <a16:creationId xmlns:a16="http://schemas.microsoft.com/office/drawing/2014/main" id="{8907BC94-0D65-6F13-9E25-8F610F57A907}"/>
              </a:ext>
            </a:extLst>
          </p:cNvPr>
          <p:cNvSpPr txBox="1"/>
          <p:nvPr/>
        </p:nvSpPr>
        <p:spPr>
          <a:xfrm>
            <a:off x="7750665" y="4040314"/>
            <a:ext cx="178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Wspólna szyna</a:t>
            </a:r>
          </a:p>
        </p:txBody>
      </p:sp>
      <p:sp>
        <p:nvSpPr>
          <p:cNvPr id="79" name="pole tekstowe 78">
            <a:extLst>
              <a:ext uri="{FF2B5EF4-FFF2-40B4-BE49-F238E27FC236}">
                <a16:creationId xmlns:a16="http://schemas.microsoft.com/office/drawing/2014/main" id="{2BAA8563-8178-1A36-A74F-46E5D748239F}"/>
              </a:ext>
            </a:extLst>
          </p:cNvPr>
          <p:cNvSpPr txBox="1"/>
          <p:nvPr/>
        </p:nvSpPr>
        <p:spPr>
          <a:xfrm>
            <a:off x="9292584" y="5811005"/>
            <a:ext cx="2062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Pamięć Główna</a:t>
            </a:r>
          </a:p>
          <a:p>
            <a:pPr algn="ctr"/>
            <a:r>
              <a:rPr lang="pl-PL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(RAM)</a:t>
            </a:r>
          </a:p>
        </p:txBody>
      </p:sp>
      <p:sp>
        <p:nvSpPr>
          <p:cNvPr id="80" name="pole tekstowe 79">
            <a:extLst>
              <a:ext uri="{FF2B5EF4-FFF2-40B4-BE49-F238E27FC236}">
                <a16:creationId xmlns:a16="http://schemas.microsoft.com/office/drawing/2014/main" id="{C8EB49FC-0C43-2603-3296-4A5A1244F93A}"/>
              </a:ext>
            </a:extLst>
          </p:cNvPr>
          <p:cNvSpPr txBox="1"/>
          <p:nvPr/>
        </p:nvSpPr>
        <p:spPr>
          <a:xfrm>
            <a:off x="4420511" y="2459030"/>
            <a:ext cx="3350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WNĘTRZE PROCESORA</a:t>
            </a:r>
          </a:p>
        </p:txBody>
      </p:sp>
      <p:sp>
        <p:nvSpPr>
          <p:cNvPr id="82" name="pole tekstowe 81">
            <a:extLst>
              <a:ext uri="{FF2B5EF4-FFF2-40B4-BE49-F238E27FC236}">
                <a16:creationId xmlns:a16="http://schemas.microsoft.com/office/drawing/2014/main" id="{B424D567-3ECC-6D2F-7A03-4DB296556099}"/>
              </a:ext>
            </a:extLst>
          </p:cNvPr>
          <p:cNvSpPr txBox="1"/>
          <p:nvPr/>
        </p:nvSpPr>
        <p:spPr>
          <a:xfrm>
            <a:off x="8644335" y="2459030"/>
            <a:ext cx="3350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PŁYTA GŁÓWNA</a:t>
            </a:r>
          </a:p>
        </p:txBody>
      </p:sp>
    </p:spTree>
    <p:extLst>
      <p:ext uri="{BB962C8B-B14F-4D97-AF65-F5344CB8AC3E}">
        <p14:creationId xmlns:p14="http://schemas.microsoft.com/office/powerpoint/2010/main" val="4032741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3756B-AE8A-E7CA-0623-C5109DE0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CD47126D-5CA8-E5B8-32B3-0DE8C6D493E0}"/>
              </a:ext>
            </a:extLst>
          </p:cNvPr>
          <p:cNvSpPr txBox="1"/>
          <p:nvPr/>
        </p:nvSpPr>
        <p:spPr>
          <a:xfrm>
            <a:off x="2340077" y="972094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Podsumowanie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8015D89-6F6F-5F06-516C-16A617A9EDAD}"/>
              </a:ext>
            </a:extLst>
          </p:cNvPr>
          <p:cNvCxnSpPr>
            <a:cxnSpLocks/>
          </p:cNvCxnSpPr>
          <p:nvPr/>
        </p:nvCxnSpPr>
        <p:spPr>
          <a:xfrm>
            <a:off x="4213123" y="2229464"/>
            <a:ext cx="376575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E194F161-56C1-DEA4-837D-9ABB53F0DB63}"/>
              </a:ext>
            </a:extLst>
          </p:cNvPr>
          <p:cNvSpPr/>
          <p:nvPr/>
        </p:nvSpPr>
        <p:spPr>
          <a:xfrm>
            <a:off x="4392560" y="2469930"/>
            <a:ext cx="3406878" cy="421464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A9C35295-F421-B21A-2270-CD88B271E2B4}"/>
              </a:ext>
            </a:extLst>
          </p:cNvPr>
          <p:cNvSpPr/>
          <p:nvPr/>
        </p:nvSpPr>
        <p:spPr>
          <a:xfrm>
            <a:off x="8318174" y="2469930"/>
            <a:ext cx="3406878" cy="421464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1A08B4C3-071A-C9A9-B212-F7FDEC0DCEA7}"/>
              </a:ext>
            </a:extLst>
          </p:cNvPr>
          <p:cNvSpPr/>
          <p:nvPr/>
        </p:nvSpPr>
        <p:spPr>
          <a:xfrm>
            <a:off x="466946" y="2469929"/>
            <a:ext cx="3406878" cy="421464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CC71C96-034B-8D62-43EC-91AF977BBA2B}"/>
              </a:ext>
            </a:extLst>
          </p:cNvPr>
          <p:cNvSpPr txBox="1"/>
          <p:nvPr/>
        </p:nvSpPr>
        <p:spPr>
          <a:xfrm>
            <a:off x="1008992" y="2795751"/>
            <a:ext cx="2322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von Neumann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93788C9-9AEC-D7D7-C6D3-D633E3855DD3}"/>
              </a:ext>
            </a:extLst>
          </p:cNvPr>
          <p:cNvSpPr txBox="1"/>
          <p:nvPr/>
        </p:nvSpPr>
        <p:spPr>
          <a:xfrm>
            <a:off x="4934606" y="2795750"/>
            <a:ext cx="2322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Harvard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B8E0D0E-1651-DFE9-85AF-A9A1B58E5235}"/>
              </a:ext>
            </a:extLst>
          </p:cNvPr>
          <p:cNvSpPr txBox="1"/>
          <p:nvPr/>
        </p:nvSpPr>
        <p:spPr>
          <a:xfrm>
            <a:off x="8744606" y="2795749"/>
            <a:ext cx="2554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Zmodyfikowana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F93EE83-6705-6728-EEFE-93974260DB34}"/>
              </a:ext>
            </a:extLst>
          </p:cNvPr>
          <p:cNvSpPr txBox="1"/>
          <p:nvPr/>
        </p:nvSpPr>
        <p:spPr>
          <a:xfrm>
            <a:off x="848624" y="3583238"/>
            <a:ext cx="264352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Prostota</a:t>
            </a:r>
          </a:p>
          <a:p>
            <a:pPr algn="ctr"/>
            <a:endParaRPr lang="pl-PL" sz="17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Niższy koszt</a:t>
            </a:r>
          </a:p>
          <a:p>
            <a:pPr algn="ctr"/>
            <a:endParaRPr lang="pl-PL" sz="17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Elastyczność w podziale pamięci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C774C69-008F-1F87-A8DF-0D2090DD310E}"/>
              </a:ext>
            </a:extLst>
          </p:cNvPr>
          <p:cNvSpPr txBox="1"/>
          <p:nvPr/>
        </p:nvSpPr>
        <p:spPr>
          <a:xfrm>
            <a:off x="4774238" y="3583238"/>
            <a:ext cx="2643521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Maksymalna szybkość</a:t>
            </a:r>
          </a:p>
          <a:p>
            <a:pPr algn="ctr"/>
            <a:endParaRPr lang="pl-PL" sz="17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Praca przewidywalna w czasie</a:t>
            </a:r>
          </a:p>
          <a:p>
            <a:pPr algn="ctr"/>
            <a:endParaRPr lang="pl-PL" sz="17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Nr 1 dla mikrokontrolerów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DB89D810-A795-BB60-A9E1-D8289DCD69A9}"/>
              </a:ext>
            </a:extLst>
          </p:cNvPr>
          <p:cNvSpPr txBox="1"/>
          <p:nvPr/>
        </p:nvSpPr>
        <p:spPr>
          <a:xfrm>
            <a:off x="8699855" y="3583233"/>
            <a:ext cx="2643521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Łączy zalety obu światów</a:t>
            </a:r>
          </a:p>
          <a:p>
            <a:pPr algn="ctr"/>
            <a:endParaRPr lang="pl-PL" sz="17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Wewnątrz Harvard</a:t>
            </a:r>
          </a:p>
          <a:p>
            <a:pPr algn="ctr"/>
            <a:endParaRPr lang="pl-PL" sz="17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l-PL" sz="17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zewnątrz von Neumann</a:t>
            </a:r>
          </a:p>
        </p:txBody>
      </p:sp>
      <p:pic>
        <p:nvPicPr>
          <p:cNvPr id="16" name="Grafika 15" descr="Szyny z wypełnieniem pełnym">
            <a:extLst>
              <a:ext uri="{FF2B5EF4-FFF2-40B4-BE49-F238E27FC236}">
                <a16:creationId xmlns:a16="http://schemas.microsoft.com/office/drawing/2014/main" id="{291EC75C-D48E-845D-7556-12234E98A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3184" y="5638509"/>
            <a:ext cx="914400" cy="914400"/>
          </a:xfrm>
          <a:prstGeom prst="rect">
            <a:avLst/>
          </a:prstGeom>
        </p:spPr>
      </p:pic>
      <p:pic>
        <p:nvPicPr>
          <p:cNvPr id="17" name="Grafika 16" descr="Szyny z wypełnieniem pełnym">
            <a:extLst>
              <a:ext uri="{FF2B5EF4-FFF2-40B4-BE49-F238E27FC236}">
                <a16:creationId xmlns:a16="http://schemas.microsoft.com/office/drawing/2014/main" id="{861BECA8-DD91-E2CF-987C-898B25181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8" y="5638509"/>
            <a:ext cx="914400" cy="914400"/>
          </a:xfrm>
          <a:prstGeom prst="rect">
            <a:avLst/>
          </a:prstGeom>
        </p:spPr>
      </p:pic>
      <p:pic>
        <p:nvPicPr>
          <p:cNvPr id="18" name="Grafika 17" descr="Szyny z wypełnieniem pełnym">
            <a:extLst>
              <a:ext uri="{FF2B5EF4-FFF2-40B4-BE49-F238E27FC236}">
                <a16:creationId xmlns:a16="http://schemas.microsoft.com/office/drawing/2014/main" id="{7E621978-4F36-E5A0-3D63-B211DF085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598" y="5638509"/>
            <a:ext cx="914400" cy="914400"/>
          </a:xfrm>
          <a:prstGeom prst="rect">
            <a:avLst/>
          </a:prstGeom>
        </p:spPr>
      </p:pic>
      <p:pic>
        <p:nvPicPr>
          <p:cNvPr id="20" name="Grafika 19" descr="Niezrównoważona waga z wypełnieniem pełnym">
            <a:extLst>
              <a:ext uri="{FF2B5EF4-FFF2-40B4-BE49-F238E27FC236}">
                <a16:creationId xmlns:a16="http://schemas.microsoft.com/office/drawing/2014/main" id="{E39F3E2D-CD2A-729A-21DB-AC47DF45FD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4246" y="56385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28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38ECD-B9AD-141B-92EA-B67B0D04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3A4946C-734E-82DD-C98E-D696D64FD5B8}"/>
              </a:ext>
            </a:extLst>
          </p:cNvPr>
          <p:cNvSpPr txBox="1"/>
          <p:nvPr/>
        </p:nvSpPr>
        <p:spPr>
          <a:xfrm>
            <a:off x="1347019" y="1443841"/>
            <a:ext cx="94979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root@embedded-sys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:~#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systemctl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 stop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cpu_buses.service</a:t>
            </a:r>
            <a:endParaRPr lang="pl-PL" sz="280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endParaRPr lang="pl-PL" sz="280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[ OK ]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Stopping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instruction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fetch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[ OK ]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Flushing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 cache...</a:t>
            </a:r>
          </a:p>
          <a:p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[ OK ]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Disconnecting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buses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System </a:t>
            </a:r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halted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endParaRPr lang="pl-PL" sz="280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</a:endParaRPr>
          </a:p>
          <a:p>
            <a:r>
              <a:rPr lang="pl-PL" sz="280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root@embedded-sys</a:t>
            </a:r>
            <a:r>
              <a:rPr lang="pl-PL" sz="280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</a:rPr>
              <a:t>:~# </a:t>
            </a:r>
            <a:r>
              <a:rPr lang="pl-PL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DZIĘKUJĘ_ZA_UWAGĘ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74020C6D-41E9-10BC-C64B-9216953BBF46}"/>
              </a:ext>
            </a:extLst>
          </p:cNvPr>
          <p:cNvSpPr/>
          <p:nvPr/>
        </p:nvSpPr>
        <p:spPr>
          <a:xfrm flipH="1">
            <a:off x="8957441" y="4950372"/>
            <a:ext cx="70945" cy="3603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599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221</Words>
  <Application>Microsoft Office PowerPoint</Application>
  <PresentationFormat>Panoramiczny</PresentationFormat>
  <Paragraphs>84</Paragraphs>
  <Slides>11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Segoe UI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Ostrowska</dc:creator>
  <cp:lastModifiedBy>Gabriela Ostrowska</cp:lastModifiedBy>
  <cp:revision>19</cp:revision>
  <dcterms:created xsi:type="dcterms:W3CDTF">2026-03-09T20:03:37Z</dcterms:created>
  <dcterms:modified xsi:type="dcterms:W3CDTF">2026-03-12T15:34:52Z</dcterms:modified>
</cp:coreProperties>
</file>